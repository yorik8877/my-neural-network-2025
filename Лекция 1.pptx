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07" autoAdjust="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AAACC-1E30-4B93-A664-5127A97C4695}" type="datetimeFigureOut">
              <a:rPr lang="ru-RU" smtClean="0"/>
              <a:pPr/>
              <a:t>04.09.2019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30B0E3-7A2E-4D2B-AC73-69EDEF432E1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E6268-9C07-43AD-A182-431E26089019}" type="datetimeFigureOut">
              <a:rPr lang="ru-RU" smtClean="0"/>
              <a:pPr/>
              <a:t>04.09.2019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38E86-3307-4E4F-9B44-2C7192EF297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9A1-7378-4FE2-9515-0B53C99CC5DC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F0E2-6E0F-4CBB-B77C-1433D7D7BE8B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21132-EBA6-4FE8-A77E-55C4C774B93B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618C-FC23-4836-AA17-DE12AE345E97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871F0-4A06-483D-B57A-856700A481A7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5B212-CEE9-45AF-9229-50B0B0CA5264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0BD08-FA33-4342-A539-67B5ED87D737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291B-5F75-4D42-95F1-CCD3C5951EC1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1E68B-94C1-4DDE-B910-D0E46C9A3448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F9BA5-6D9D-4205-8ED6-791488E677F2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568F6-FD7A-4A28-8920-3431C160F0B5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0C07286-8BA0-4A90-892B-67535DD01ACB}" type="datetime1">
              <a:rPr lang="ru-RU" smtClean="0"/>
              <a:pPr/>
              <a:t>04.09.2019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r>
              <a:rPr lang="ru-RU" smtClean="0"/>
              <a:t>Автор: Ботвинков А.В.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1124744"/>
            <a:ext cx="8458200" cy="1222375"/>
          </a:xfrm>
        </p:spPr>
        <p:txBody>
          <a:bodyPr/>
          <a:lstStyle/>
          <a:p>
            <a:pPr algn="ctr"/>
            <a:r>
              <a:rPr lang="ru-RU" dirty="0" smtClean="0"/>
              <a:t>Интеллектуальные системы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2708920"/>
            <a:ext cx="8458200" cy="914400"/>
          </a:xfrm>
        </p:spPr>
        <p:txBody>
          <a:bodyPr/>
          <a:lstStyle/>
          <a:p>
            <a:pPr algn="ctr"/>
            <a:r>
              <a:rPr lang="ru-RU" dirty="0" smtClean="0"/>
              <a:t>Основные понятия</a:t>
            </a:r>
            <a:endParaRPr lang="ru-RU" dirty="0"/>
          </a:p>
        </p:txBody>
      </p:sp>
      <p:sp>
        <p:nvSpPr>
          <p:cNvPr id="7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понятия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268760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Искусственный интеллект </a:t>
            </a:r>
            <a:r>
              <a:rPr lang="ru-RU" dirty="0" smtClean="0"/>
              <a:t>— это область науки, занимающаяся моделированием интеллектуальной деятельности человека.</a:t>
            </a:r>
            <a:endParaRPr lang="ru-RU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11560" y="2420888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Интеллект</a:t>
            </a:r>
            <a:r>
              <a:rPr lang="ru-RU" dirty="0" smtClean="0"/>
              <a:t> </a:t>
            </a:r>
            <a:r>
              <a:rPr lang="ru-RU" dirty="0" smtClean="0"/>
              <a:t>– это способность мозга решать (интеллектуальные) задачи путем приобретения, запоминания и целенаправленного преобразования знаний в процессе обучения на опыте и адаптации к разнообразным обстоятельствам.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83568" y="4077072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Интеллектуальная задача </a:t>
            </a:r>
            <a:r>
              <a:rPr lang="ru-RU" dirty="0" smtClean="0"/>
              <a:t>связана с отысканием </a:t>
            </a:r>
            <a:r>
              <a:rPr lang="ru-RU" dirty="0" smtClean="0"/>
              <a:t>алгоритма решения класса задач определенного </a:t>
            </a:r>
            <a:r>
              <a:rPr lang="ru-RU" dirty="0" smtClean="0"/>
              <a:t>типа. Примеры: </a:t>
            </a:r>
            <a:r>
              <a:rPr lang="ru-RU" dirty="0" smtClean="0"/>
              <a:t>доказательство теорем, логический анализ, распознавание ситуаций, планирование поведения, игры и управление в условиях </a:t>
            </a:r>
            <a:r>
              <a:rPr lang="ru-RU" dirty="0" smtClean="0"/>
              <a:t>неопределенности и </a:t>
            </a:r>
            <a:r>
              <a:rPr lang="ru-RU" dirty="0" smtClean="0"/>
              <a:t>т.п.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понятия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1268760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</a:t>
            </a:r>
            <a:r>
              <a:rPr lang="ru-RU" b="1" dirty="0" smtClean="0"/>
              <a:t>нтеллект </a:t>
            </a:r>
            <a:r>
              <a:rPr lang="ru-RU" dirty="0" smtClean="0"/>
              <a:t>представляет собой универсальный </a:t>
            </a:r>
            <a:r>
              <a:rPr lang="ru-RU" dirty="0" err="1" smtClean="0"/>
              <a:t>сверхалгоритм</a:t>
            </a:r>
            <a:r>
              <a:rPr lang="ru-RU" dirty="0" smtClean="0"/>
              <a:t>, который способен создавать алгоритмы решения конкретных задач.</a:t>
            </a:r>
            <a:endParaRPr lang="ru-RU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11560" y="2420888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Черты интеллекта: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являются </a:t>
            </a:r>
            <a:r>
              <a:rPr lang="ru-RU" dirty="0" smtClean="0"/>
              <a:t>способность к обучению</a:t>
            </a:r>
            <a:r>
              <a:rPr lang="ru-RU" dirty="0" smtClean="0"/>
              <a:t>,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ru-RU" dirty="0" smtClean="0"/>
              <a:t>обобщению</a:t>
            </a:r>
            <a:r>
              <a:rPr lang="ru-RU" dirty="0" smtClean="0"/>
              <a:t>,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</a:t>
            </a:r>
            <a:r>
              <a:rPr lang="ru-RU" dirty="0" smtClean="0"/>
              <a:t>накоплению опыта (знаний и навыков</a:t>
            </a:r>
            <a:r>
              <a:rPr lang="ru-RU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адаптации </a:t>
            </a:r>
            <a:r>
              <a:rPr lang="ru-RU" dirty="0" smtClean="0"/>
              <a:t>к изменяющимся условиям в процессе решения задач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83568" y="4077072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решения главной задачи по созданию ИИ </a:t>
            </a:r>
            <a:r>
              <a:rPr lang="ru-RU" dirty="0" smtClean="0"/>
              <a:t>, </a:t>
            </a:r>
            <a:r>
              <a:rPr lang="ru-RU" dirty="0" smtClean="0"/>
              <a:t>требуется разбить её на </a:t>
            </a:r>
            <a:r>
              <a:rPr lang="ru-RU" dirty="0" err="1" smtClean="0"/>
              <a:t>на</a:t>
            </a:r>
            <a:r>
              <a:rPr lang="ru-RU" dirty="0" smtClean="0"/>
              <a:t> </a:t>
            </a:r>
            <a:r>
              <a:rPr lang="ru-RU" dirty="0" smtClean="0"/>
              <a:t>две части: </a:t>
            </a: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задачу </a:t>
            </a:r>
            <a:r>
              <a:rPr lang="ru-RU" dirty="0" smtClean="0"/>
              <a:t>построения «</a:t>
            </a:r>
            <a:r>
              <a:rPr lang="ru-RU" b="1" dirty="0" smtClean="0"/>
              <a:t>программы-ребенка</a:t>
            </a:r>
            <a:r>
              <a:rPr lang="ru-RU" dirty="0" smtClean="0"/>
              <a:t>» </a:t>
            </a:r>
            <a:endParaRPr lang="ru-RU" dirty="0" smtClean="0"/>
          </a:p>
          <a:p>
            <a:pPr>
              <a:buFont typeface="Arial" pitchFamily="34" charset="0"/>
              <a:buChar char="•"/>
            </a:pPr>
            <a:r>
              <a:rPr lang="ru-RU" dirty="0" smtClean="0"/>
              <a:t> задачу </a:t>
            </a:r>
            <a:r>
              <a:rPr lang="ru-RU" dirty="0" smtClean="0"/>
              <a:t>«</a:t>
            </a:r>
            <a:r>
              <a:rPr lang="ru-RU" b="1" dirty="0" smtClean="0"/>
              <a:t>воспитания</a:t>
            </a:r>
            <a:r>
              <a:rPr lang="ru-RU" dirty="0" smtClean="0"/>
              <a:t>» этой программы</a:t>
            </a:r>
            <a:r>
              <a:rPr lang="ru-RU" dirty="0" smtClean="0"/>
              <a:t>»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понятия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Персептрон</a:t>
            </a:r>
            <a:r>
              <a:rPr lang="ru-RU" dirty="0" smtClean="0"/>
              <a:t> - </a:t>
            </a:r>
            <a:r>
              <a:rPr lang="ru-RU" dirty="0" smtClean="0"/>
              <a:t> модель зрительного восприятия и </a:t>
            </a:r>
            <a:r>
              <a:rPr lang="ru-RU" dirty="0" smtClean="0"/>
              <a:t>распознавания. Он работает </a:t>
            </a:r>
            <a:r>
              <a:rPr lang="ru-RU" dirty="0" smtClean="0"/>
              <a:t>в двух режимах: в режиме обучения и в режиме </a:t>
            </a:r>
            <a:r>
              <a:rPr lang="ru-RU" dirty="0" smtClean="0"/>
              <a:t>распознавания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55576" y="1196752"/>
            <a:ext cx="80648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Под </a:t>
            </a:r>
            <a:r>
              <a:rPr lang="ru-RU" b="1" dirty="0" smtClean="0"/>
              <a:t>интеллектуальными системами</a:t>
            </a:r>
            <a:r>
              <a:rPr lang="ru-RU" dirty="0" smtClean="0"/>
              <a:t> понимают любые биологические, искусственные или формальные системы, проявляющие способность к целенаправленному поведению. Последнее включает свойства (проявления) общения, накопления знаний, принятия решений, обучения, адаптации и т.д.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направления  ИИ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11560" y="1412776"/>
            <a:ext cx="4979184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 smtClean="0"/>
              <a:t>Представление знаний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Манипулирование знаниями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Общение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Восприятие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Обучение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Поведение</a:t>
            </a:r>
            <a:r>
              <a:rPr lang="ru-RU" dirty="0" smtClean="0"/>
              <a:t>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Интеллектуальное программирование</a:t>
            </a:r>
            <a:endParaRPr lang="ru-RU" dirty="0" smtClean="0"/>
          </a:p>
          <a:p>
            <a:pPr marL="342900" indent="-342900"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</a:t>
            </a:r>
            <a:r>
              <a:rPr lang="ru-RU" sz="2400" dirty="0" smtClean="0"/>
              <a:t>Особенности  Интеллектуальных систем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268760"/>
            <a:ext cx="86764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/>
              <a:t>О</a:t>
            </a:r>
            <a:r>
              <a:rPr lang="ru-RU" dirty="0" smtClean="0"/>
              <a:t>бщение </a:t>
            </a:r>
            <a:r>
              <a:rPr lang="ru-RU" dirty="0" smtClean="0"/>
              <a:t>человека-пользователя с этими системами не требует от него знания программирования, так как диалог с ними организуется на естественном </a:t>
            </a:r>
            <a:r>
              <a:rPr lang="ru-RU" dirty="0" smtClean="0"/>
              <a:t>языке.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Программы </a:t>
            </a:r>
            <a:r>
              <a:rPr lang="ru-RU" dirty="0" smtClean="0"/>
              <a:t>решения конкретных задач формируются ИС автоматически на основе введения в их память знаний о закономерностях проблемных областей и способах решения возникающих в этой области задач с использованием методов логических рассуждений, ставших уже традиционными математических методов исследования операций, и методов, основанных на нечеткой логике и нечетких выводах</a:t>
            </a:r>
            <a:r>
              <a:rPr lang="ru-RU" dirty="0" smtClean="0"/>
              <a:t>.</a:t>
            </a:r>
          </a:p>
          <a:p>
            <a:pPr marL="342900" indent="-342900">
              <a:buFontTx/>
              <a:buAutoNum type="arabicPeriod"/>
            </a:pPr>
            <a:r>
              <a:rPr lang="ru-RU" dirty="0" smtClean="0"/>
              <a:t>ИС обеспечивают выдачу наиболее предпочтительных в данной ситуации, вариантов решения, сопровождают их объяснениями</a:t>
            </a:r>
            <a:r>
              <a:rPr lang="ru-RU" dirty="0" smtClean="0"/>
              <a:t>.</a:t>
            </a:r>
            <a:endParaRPr lang="ru-RU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виды интеллектуальных систем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268760"/>
            <a:ext cx="86764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 smtClean="0"/>
              <a:t>Экспертные системы</a:t>
            </a:r>
            <a:r>
              <a:rPr lang="ru-RU" dirty="0" smtClean="0"/>
              <a:t> - комплекс </a:t>
            </a:r>
            <a:r>
              <a:rPr lang="ru-RU" dirty="0" smtClean="0"/>
              <a:t>программных средств, обеспечивающих выдачу рекомендаций для решения трудно формализуемых задач в условиях дефицита времени, противоречивой и недостоверной </a:t>
            </a:r>
            <a:r>
              <a:rPr lang="ru-RU" dirty="0" smtClean="0"/>
              <a:t>информации.</a:t>
            </a:r>
          </a:p>
          <a:p>
            <a:pPr marL="342900" indent="-342900">
              <a:buFontTx/>
              <a:buAutoNum type="arabicPeriod"/>
            </a:pPr>
            <a:r>
              <a:rPr lang="ru-RU" b="1" dirty="0" smtClean="0"/>
              <a:t>Робототехнические системы (РТС)</a:t>
            </a:r>
            <a:r>
              <a:rPr lang="ru-RU" dirty="0" smtClean="0"/>
              <a:t> представляют собой автоматизированные устройства, способные самостоятельно выполнять разнообразные производственные функции.</a:t>
            </a:r>
          </a:p>
          <a:p>
            <a:pPr marL="342900" indent="-342900">
              <a:buAutoNum type="arabicPeriod"/>
            </a:pPr>
            <a:r>
              <a:rPr lang="ru-RU" b="1" dirty="0" smtClean="0"/>
              <a:t>Нечеткие системы</a:t>
            </a:r>
            <a:r>
              <a:rPr lang="ru-RU" dirty="0" smtClean="0"/>
              <a:t> – это системы, которые предназначены для обработки нечетких понятий и знаний, оперировать этими знаниями и делать нечеткие </a:t>
            </a:r>
            <a:r>
              <a:rPr lang="ru-RU" dirty="0" smtClean="0"/>
              <a:t>выводы.</a:t>
            </a:r>
          </a:p>
          <a:p>
            <a:pPr marL="342900" indent="-342900">
              <a:buFontTx/>
              <a:buAutoNum type="arabicPeriod"/>
            </a:pPr>
            <a:r>
              <a:rPr lang="ru-RU" b="1" dirty="0" smtClean="0"/>
              <a:t>Интеллектуальное математическое моделирование</a:t>
            </a:r>
            <a:r>
              <a:rPr lang="ru-RU" dirty="0" smtClean="0"/>
              <a:t>. Это компьютерное математическое моделирование с использованием методов искусственного интеллекта.</a:t>
            </a:r>
          </a:p>
          <a:p>
            <a:pPr marL="342900" indent="-342900">
              <a:buFontTx/>
              <a:buAutoNum type="arabicPeriod"/>
            </a:pPr>
            <a:r>
              <a:rPr lang="ru-RU" b="1" dirty="0" smtClean="0"/>
              <a:t>Компьютерные вирусы</a:t>
            </a:r>
            <a:r>
              <a:rPr lang="ru-RU" dirty="0" smtClean="0"/>
              <a:t>. Сегодня трудно назвать компьютерного пользователя, избежавшего знакомства с этим видом программной продукции</a:t>
            </a:r>
            <a:r>
              <a:rPr lang="ru-RU" dirty="0" smtClean="0"/>
              <a:t>.</a:t>
            </a:r>
            <a:endParaRPr lang="ru-RU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Основные виды интеллектуальных систем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9512" y="1268760"/>
            <a:ext cx="8676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ru-RU" b="1" dirty="0" smtClean="0"/>
              <a:t>7. Математический нейрон</a:t>
            </a:r>
            <a:r>
              <a:rPr lang="ru-RU" dirty="0" smtClean="0"/>
              <a:t> </a:t>
            </a:r>
            <a:r>
              <a:rPr lang="ru-RU" dirty="0" smtClean="0"/>
              <a:t>— </a:t>
            </a:r>
            <a:r>
              <a:rPr lang="ru-RU" dirty="0" smtClean="0"/>
              <a:t>устройство, моделирующее </a:t>
            </a:r>
            <a:r>
              <a:rPr lang="ru-RU" dirty="0" smtClean="0"/>
              <a:t>нейрон мозга человека. </a:t>
            </a:r>
            <a:r>
              <a:rPr lang="ru-RU" dirty="0" smtClean="0"/>
              <a:t>имеет </a:t>
            </a:r>
            <a:r>
              <a:rPr lang="ru-RU" dirty="0" smtClean="0"/>
              <a:t>несколько входов и один выход.</a:t>
            </a:r>
          </a:p>
        </p:txBody>
      </p:sp>
      <p:pic>
        <p:nvPicPr>
          <p:cNvPr id="1028" name="Picture 4" descr="https://ds02.infourok.ru/uploads/ex/082d/0000564c-40ae3ae0/13/hello_html_3eaa25e8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060848"/>
            <a:ext cx="5667375" cy="4352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Предназначение нейронных систем 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67544" y="1268760"/>
            <a:ext cx="84969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Классификация</a:t>
            </a:r>
            <a:r>
              <a:rPr lang="ru-RU" dirty="0" smtClean="0"/>
              <a:t> — распределение данных по параметрам. Например, на вход дается набор людей и нужно решить, кому из них давать кредит, а кому нет. Эту работу может сделать нейронная сеть, анализируя такую информацию как: возраст, платежеспособность, кредитная история и </a:t>
            </a:r>
            <a:r>
              <a:rPr lang="ru-RU" dirty="0" err="1" smtClean="0"/>
              <a:t>тд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Предсказание</a:t>
            </a:r>
            <a:r>
              <a:rPr lang="ru-RU" dirty="0" smtClean="0"/>
              <a:t> — возможность предсказывать следующий шаг. Например, рост или падение акций, основываясь на ситуации на фондовом рынке.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Распознавание</a:t>
            </a:r>
            <a:r>
              <a:rPr lang="ru-RU" dirty="0" smtClean="0"/>
              <a:t> — в настоящее время, самое широкое применение нейронных сетей. </a:t>
            </a:r>
            <a:r>
              <a:rPr lang="ru-RU" dirty="0" smtClean="0"/>
              <a:t>Для поиска </a:t>
            </a:r>
            <a:r>
              <a:rPr lang="ru-RU" dirty="0" smtClean="0"/>
              <a:t>фото или в камерах телефонов, </a:t>
            </a:r>
            <a:r>
              <a:rPr lang="ru-RU" dirty="0" err="1" smtClean="0"/>
              <a:t>нейросеть</a:t>
            </a:r>
            <a:r>
              <a:rPr lang="ru-RU" dirty="0" smtClean="0"/>
              <a:t> </a:t>
            </a:r>
            <a:r>
              <a:rPr lang="en-US" dirty="0" smtClean="0"/>
              <a:t>Google </a:t>
            </a:r>
            <a:r>
              <a:rPr lang="ru-RU" dirty="0" smtClean="0"/>
              <a:t>определяет </a:t>
            </a:r>
            <a:r>
              <a:rPr lang="ru-RU" dirty="0" smtClean="0"/>
              <a:t>положение вашего лица и выделяет его и многое другое.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Реализация нейронной сети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67544" y="1124744"/>
            <a:ext cx="82089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Персептрон</a:t>
            </a:r>
            <a:r>
              <a:rPr lang="ru-RU" dirty="0" smtClean="0"/>
              <a:t> -  модель зрительного восприятия и распознавания. Он работает в двух режимах: в режиме обучения и в режиме распознавания.</a:t>
            </a:r>
            <a:endParaRPr lang="ru-RU" dirty="0"/>
          </a:p>
        </p:txBody>
      </p:sp>
      <p:pic>
        <p:nvPicPr>
          <p:cNvPr id="10" name="Picture 2" descr="C:\Users\Антон\Desktop\e613db56971c92a6dedae728ef6997e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844824"/>
            <a:ext cx="4035595" cy="42454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Реализация нейронной сети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539552" y="1268760"/>
            <a:ext cx="8280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Нейроны </a:t>
            </a:r>
            <a:r>
              <a:rPr lang="ru-RU" dirty="0" smtClean="0"/>
              <a:t>оперируют числами в диапазоне [0,1] или [-1,1]. </a:t>
            </a:r>
            <a:r>
              <a:rPr lang="ru-RU" dirty="0" smtClean="0"/>
              <a:t>Если числа выходят из этого диапазона то требуется его нормализовать </a:t>
            </a:r>
            <a:r>
              <a:rPr lang="ru-RU" dirty="0" smtClean="0"/>
              <a:t>— это разделить 1 на это число. </a:t>
            </a:r>
            <a:endParaRPr lang="ru-RU" dirty="0"/>
          </a:p>
        </p:txBody>
      </p:sp>
      <p:pic>
        <p:nvPicPr>
          <p:cNvPr id="25602" name="Picture 2" descr="https://habrastorage.org/files/6c9/879/ae3/6c9879ae3bf445b3a7e39c0a2659847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060848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Реализация нейронной сети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755576" y="2996952"/>
            <a:ext cx="759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7650" name="Picture 2" descr="https://habrastorage.org/files/8bf/88c/293/8bf88c293fc64a55bf09ea3e8c991ec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1052736"/>
            <a:ext cx="3810000" cy="3810000"/>
          </a:xfrm>
          <a:prstGeom prst="rect">
            <a:avLst/>
          </a:prstGeom>
          <a:noFill/>
        </p:spPr>
      </p:pic>
      <p:sp>
        <p:nvSpPr>
          <p:cNvPr id="9" name="Прямоугольник 8"/>
          <p:cNvSpPr/>
          <p:nvPr/>
        </p:nvSpPr>
        <p:spPr>
          <a:xfrm>
            <a:off x="467544" y="4653136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Функция активации — это способ нормализации входных </a:t>
            </a:r>
            <a:r>
              <a:rPr lang="ru-RU" dirty="0" smtClean="0"/>
              <a:t>данных</a:t>
            </a:r>
            <a:r>
              <a:rPr lang="en-US" dirty="0" smtClean="0"/>
              <a:t>. </a:t>
            </a:r>
            <a:r>
              <a:rPr lang="ru-RU" dirty="0" smtClean="0"/>
              <a:t>То </a:t>
            </a:r>
            <a:r>
              <a:rPr lang="ru-RU" dirty="0" smtClean="0"/>
              <a:t>есть, если на входе у вас будет большое число, пропустив его через функцию активации, вы получите выход в нужном вам диапазоне.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Функция активации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8674" name="Picture 2" descr="https://habrastorage.org/files/150/8ef/062/1508ef06235444c3bc74a942812b4eb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124744"/>
            <a:ext cx="5256584" cy="52565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Функция активации. </a:t>
            </a:r>
            <a:r>
              <a:rPr lang="ru-RU" sz="2400" dirty="0" smtClean="0"/>
              <a:t>Гиперболический тангенс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9698" name="Picture 2" descr="https://habrastorage.org/files/c71/db2/a75/c71db2a756494e5298ed1d5b5f15cbc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124744"/>
            <a:ext cx="5328592" cy="53285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Понятия нейронных сетей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1268760"/>
            <a:ext cx="84249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Тренировочный </a:t>
            </a:r>
            <a:r>
              <a:rPr lang="ru-RU" b="1" dirty="0" smtClean="0"/>
              <a:t>сет </a:t>
            </a:r>
            <a:r>
              <a:rPr lang="ru-RU" dirty="0" smtClean="0"/>
              <a:t>— это последовательность данных, которыми оперирует нейронная сеть. </a:t>
            </a:r>
            <a:r>
              <a:rPr lang="ru-RU" dirty="0" smtClean="0"/>
              <a:t>Для двух входных нейронов всего </a:t>
            </a:r>
            <a:r>
              <a:rPr lang="ru-RU" dirty="0" smtClean="0"/>
              <a:t>4 разных исхода то есть у нас будет 4 тренировочных сета: 0xor0=0, 0xor1=1, </a:t>
            </a:r>
            <a:r>
              <a:rPr lang="ru-RU" dirty="0" smtClean="0"/>
              <a:t>1xor0=1,1xor1=0, если использовать исключающие ИЛИ.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 Итерация </a:t>
            </a:r>
            <a:r>
              <a:rPr lang="ru-RU" b="1" dirty="0" smtClean="0"/>
              <a:t> -</a:t>
            </a:r>
            <a:r>
              <a:rPr lang="ru-RU" dirty="0" smtClean="0"/>
              <a:t> </a:t>
            </a:r>
            <a:r>
              <a:rPr lang="ru-RU" dirty="0" smtClean="0"/>
              <a:t>это </a:t>
            </a:r>
            <a:r>
              <a:rPr lang="ru-RU" dirty="0" smtClean="0"/>
              <a:t>своеобразный счетчик, который увеличивается каждый раз, когда нейронная сеть проходит один тренировочный сет. Другими словами, это общее количество тренировочных сетов пройденных нейронной сетью.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 smtClean="0"/>
              <a:t> Эпоха </a:t>
            </a:r>
            <a:r>
              <a:rPr lang="ru-RU" b="1" dirty="0" smtClean="0"/>
              <a:t>-</a:t>
            </a:r>
            <a:r>
              <a:rPr lang="ru-RU" dirty="0" smtClean="0"/>
              <a:t> </a:t>
            </a:r>
            <a:r>
              <a:rPr lang="ru-RU" dirty="0" smtClean="0"/>
              <a:t>при </a:t>
            </a:r>
            <a:r>
              <a:rPr lang="ru-RU" dirty="0" smtClean="0"/>
              <a:t>инициализации нейронной сети эта величина устанавливается в 0 и имеет потолок, задаваемый вручную. Чем больше эпоха, тем лучше натренирована сеть и соответственно, ее результат. Эпоха увеличивается каждый раз, когда мы проходим весь набор тренировочных сетов, в нашем случае, 4 сетов или 4 итераций.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Понятия нейронных сетей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722" name="Picture 2" descr="https://habrastorage.org/files/d73/0a6/439/d730a643937f45ca997d73eec4fabdd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412776"/>
            <a:ext cx="6480720" cy="3240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Понятия нейронных сетей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39552" y="1196752"/>
            <a:ext cx="8280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Ошибка</a:t>
            </a:r>
            <a:r>
              <a:rPr lang="ru-RU" dirty="0" smtClean="0"/>
              <a:t> — это процентная величина, отражающая расхождение между ожидаемым и полученным ответами. Ошибка формируется каждую эпоху и должна идти на спад.</a:t>
            </a:r>
            <a:endParaRPr lang="ru-RU" dirty="0"/>
          </a:p>
        </p:txBody>
      </p:sp>
      <p:pic>
        <p:nvPicPr>
          <p:cNvPr id="32770" name="Picture 2" descr="https://habrastorage.org/files/8b2/b5a/997/8b2b5a9974f841a0af487f671aae850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1844824"/>
            <a:ext cx="3810000" cy="1905000"/>
          </a:xfrm>
          <a:prstGeom prst="rect">
            <a:avLst/>
          </a:prstGeom>
          <a:noFill/>
        </p:spPr>
      </p:pic>
      <p:pic>
        <p:nvPicPr>
          <p:cNvPr id="32772" name="Picture 4" descr="https://habrastorage.org/files/2dc/6e7/193/2dc6e7193baa47178ddd5ea8f33faa1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3717032"/>
            <a:ext cx="3810000" cy="19050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187624" y="270892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MSE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55576" y="450912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ROOT MSE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Понятия нейронных сетей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251520" y="1196752"/>
            <a:ext cx="8640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Задача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Подсчитать </a:t>
            </a:r>
            <a:r>
              <a:rPr lang="ru-RU" dirty="0" smtClean="0"/>
              <a:t>результат, данной нейронной сети, используя </a:t>
            </a:r>
            <a:r>
              <a:rPr lang="ru-RU" dirty="0" err="1" smtClean="0"/>
              <a:t>сигмоид</a:t>
            </a:r>
            <a:r>
              <a:rPr lang="ru-RU" dirty="0" smtClean="0"/>
              <a:t>, и ее ошибку, используя MSE.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Данные: I1=1, I2=0, w1=0.45, w2=0.78 ,w3</a:t>
            </a:r>
            <a:r>
              <a:rPr lang="ru-RU" dirty="0" smtClean="0"/>
              <a:t>=</a:t>
            </a:r>
            <a:r>
              <a:rPr lang="en-US" dirty="0" smtClean="0"/>
              <a:t> 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0.12 </a:t>
            </a:r>
            <a:r>
              <a:rPr lang="ru-RU" dirty="0" smtClean="0"/>
              <a:t>,w4=0.13 ,w5=1.5 ,w6</a:t>
            </a:r>
            <a:r>
              <a:rPr lang="ru-RU" dirty="0" smtClean="0"/>
              <a:t>=</a:t>
            </a:r>
            <a:r>
              <a:rPr lang="en-US" dirty="0" smtClean="0"/>
              <a:t> 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2.3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3794" name="Picture 2" descr="https://habrastorage.org/files/dad/168/f54/dad168f54a2d4cf0b6508200eda50ee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70892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83880" cy="1051560"/>
          </a:xfrm>
        </p:spPr>
        <p:txBody>
          <a:bodyPr>
            <a:normAutofit/>
          </a:bodyPr>
          <a:lstStyle/>
          <a:p>
            <a:pPr algn="ctr"/>
            <a:r>
              <a:rPr lang="ru-RU" sz="2400" dirty="0" smtClean="0"/>
              <a:t>Понятия нейронных сетей</a:t>
            </a:r>
            <a:endParaRPr lang="ru-RU" sz="240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724128" y="6381328"/>
            <a:ext cx="2895600" cy="288925"/>
          </a:xfrm>
        </p:spPr>
        <p:txBody>
          <a:bodyPr/>
          <a:lstStyle/>
          <a:p>
            <a:r>
              <a:rPr lang="ru-RU" sz="1600" dirty="0" smtClean="0">
                <a:solidFill>
                  <a:schemeClr val="tx1"/>
                </a:solidFill>
              </a:rPr>
              <a:t>Автор: </a:t>
            </a:r>
            <a:r>
              <a:rPr lang="ru-RU" sz="1600" dirty="0" err="1" smtClean="0">
                <a:solidFill>
                  <a:schemeClr val="tx1"/>
                </a:solidFill>
              </a:rPr>
              <a:t>Ботвинков</a:t>
            </a:r>
            <a:r>
              <a:rPr lang="ru-RU" sz="1600" dirty="0" smtClean="0">
                <a:solidFill>
                  <a:schemeClr val="tx1"/>
                </a:solidFill>
              </a:rPr>
              <a:t> А.В.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3794" name="Picture 2" descr="https://habrastorage.org/files/dad/168/f54/dad168f54a2d4cf0b6508200eda50ee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476672"/>
            <a:ext cx="3810000" cy="3810000"/>
          </a:xfrm>
          <a:prstGeom prst="rect">
            <a:avLst/>
          </a:prstGeom>
          <a:noFill/>
        </p:spPr>
      </p:pic>
      <p:sp>
        <p:nvSpPr>
          <p:cNvPr id="7" name="Прямоугольник 6"/>
          <p:cNvSpPr/>
          <p:nvPr/>
        </p:nvSpPr>
        <p:spPr>
          <a:xfrm>
            <a:off x="395536" y="4149080"/>
            <a:ext cx="82089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H1input = 1*0.45+0*-</a:t>
            </a:r>
            <a:r>
              <a:rPr lang="en-US" dirty="0" smtClean="0"/>
              <a:t>0.12=0.45</a:t>
            </a:r>
            <a:r>
              <a:rPr lang="ru-RU" dirty="0" smtClean="0"/>
              <a:t> </a:t>
            </a:r>
            <a:r>
              <a:rPr lang="en-US" dirty="0" smtClean="0"/>
              <a:t>	 H2input = 1*0.78+0*0.13=0.78 </a:t>
            </a:r>
            <a:br>
              <a:rPr lang="en-US" dirty="0" smtClean="0"/>
            </a:br>
            <a:r>
              <a:rPr lang="en-US" dirty="0" smtClean="0"/>
              <a:t>H1output = sigmoid(0.45)=0.61	 H2output = sigmoid(0.78)=0.69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O1input </a:t>
            </a:r>
            <a:r>
              <a:rPr lang="en-US" dirty="0" smtClean="0"/>
              <a:t>= 0.61*1.5+0.69*-2.3=-0.672 	 O1ideal = 1 (0xor1=1) </a:t>
            </a:r>
            <a:br>
              <a:rPr lang="en-US" dirty="0" smtClean="0"/>
            </a:br>
            <a:r>
              <a:rPr lang="en-US" dirty="0" smtClean="0"/>
              <a:t>O1output </a:t>
            </a:r>
            <a:r>
              <a:rPr lang="en-US" dirty="0" smtClean="0"/>
              <a:t>= sigmoid(-0.672)=0.33 		 Error = ((1-0.33)^2)/1=0.45 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 smtClean="0"/>
              <a:t>Результат — 0.33, ошибка — 45% 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557</TotalTime>
  <Words>797</Words>
  <Application>Microsoft Office PowerPoint</Application>
  <PresentationFormat>Экран (4:3)</PresentationFormat>
  <Paragraphs>83</Paragraphs>
  <Slides>19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Трек</vt:lpstr>
      <vt:lpstr>Интеллектуальные системы</vt:lpstr>
      <vt:lpstr>Основные понятия</vt:lpstr>
      <vt:lpstr>Основные понятия</vt:lpstr>
      <vt:lpstr>Основные понятия</vt:lpstr>
      <vt:lpstr>Основные направления  ИИ</vt:lpstr>
      <vt:lpstr>Основные Особенности  Интеллектуальных систем</vt:lpstr>
      <vt:lpstr>Основные виды интеллектуальных систем</vt:lpstr>
      <vt:lpstr>Основные виды интеллектуальных систем</vt:lpstr>
      <vt:lpstr>Предназначение нейронных систем </vt:lpstr>
      <vt:lpstr>Реализация нейронной сети</vt:lpstr>
      <vt:lpstr>Реализация нейронной сети</vt:lpstr>
      <vt:lpstr>Реализация нейронной сети</vt:lpstr>
      <vt:lpstr>Функция активации</vt:lpstr>
      <vt:lpstr>Функция активации. Гиперболический тангенс</vt:lpstr>
      <vt:lpstr>Понятия нейронных сетей</vt:lpstr>
      <vt:lpstr>Понятия нейронных сетей</vt:lpstr>
      <vt:lpstr>Понятия нейронных сетей</vt:lpstr>
      <vt:lpstr>Понятия нейронных сетей</vt:lpstr>
      <vt:lpstr>Понятия нейронных сетей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Антон</dc:creator>
  <cp:lastModifiedBy>Антон</cp:lastModifiedBy>
  <cp:revision>45</cp:revision>
  <dcterms:created xsi:type="dcterms:W3CDTF">2017-09-07T13:45:42Z</dcterms:created>
  <dcterms:modified xsi:type="dcterms:W3CDTF">2019-09-04T18:03:24Z</dcterms:modified>
</cp:coreProperties>
</file>