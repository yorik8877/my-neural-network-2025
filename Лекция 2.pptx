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75" r:id="rId10"/>
    <p:sldId id="276" r:id="rId11"/>
    <p:sldId id="277" r:id="rId12"/>
    <p:sldId id="263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707" autoAdjust="0"/>
  </p:normalViewPr>
  <p:slideViewPr>
    <p:cSldViewPr>
      <p:cViewPr varScale="1">
        <p:scale>
          <a:sx n="65" d="100"/>
          <a:sy n="65" d="100"/>
        </p:scale>
        <p:origin x="-153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AAAACC-1E30-4B93-A664-5127A97C4695}" type="datetimeFigureOut">
              <a:rPr lang="ru-RU" smtClean="0"/>
              <a:pPr/>
              <a:t>11.09.2019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u-RU" smtClean="0"/>
              <a:t>Автор: Ботвинков А.В.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30B0E3-7A2E-4D2B-AC73-69EDEF432E13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E6268-9C07-43AD-A182-431E26089019}" type="datetimeFigureOut">
              <a:rPr lang="ru-RU" smtClean="0"/>
              <a:pPr/>
              <a:t>11.09.2019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u-RU" smtClean="0"/>
              <a:t>Автор: Ботвинков А.В.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538E86-3307-4E4F-9B44-2C7192EF2975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Автор: Ботвинков А.В.</a:t>
            </a:r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Заголовок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16" name="Дата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4F9A1-7378-4FE2-9515-0B53C99CC5DC}" type="datetime1">
              <a:rPr lang="ru-RU" smtClean="0"/>
              <a:pPr/>
              <a:t>11.09.2019</a:t>
            </a:fld>
            <a:endParaRPr lang="ru-RU"/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Автор: Ботвинков А.В.</a:t>
            </a:r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7" name="Содержимое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Дата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F0E2-6E0F-4CBB-B77C-1433D7D7BE8B}" type="datetime1">
              <a:rPr lang="ru-RU" smtClean="0"/>
              <a:pPr/>
              <a:t>11.09.2019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r>
              <a:rPr lang="ru-RU" smtClean="0"/>
              <a:t>Автор: Ботвинков А.В.</a:t>
            </a:r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9" name="Дата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1132-EBA6-4FE8-A77E-55C4C774B93B}" type="datetime1">
              <a:rPr lang="ru-RU" smtClean="0"/>
              <a:pPr/>
              <a:t>11.09.2019</a:t>
            </a:fld>
            <a:endParaRPr lang="ru-RU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Автор: Ботвинков А.В.</a:t>
            </a:r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4" name="Содержимое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618C-FC23-4836-AA17-DE12AE345E97}" type="datetime1">
              <a:rPr lang="ru-RU" smtClean="0"/>
              <a:pPr/>
              <a:t>11.09.2019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Автор: Ботвинков А.В.</a:t>
            </a:r>
            <a:endParaRPr lang="ru-RU"/>
          </a:p>
        </p:txBody>
      </p:sp>
      <p:sp>
        <p:nvSpPr>
          <p:cNvPr id="31" name="Номер слайда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25" name="Текст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8" name="Содержимое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871F0-4A06-483D-B57A-856700A481A7}" type="datetime1">
              <a:rPr lang="ru-RU" smtClean="0"/>
              <a:pPr/>
              <a:t>11.09.2019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Автор: Ботвинков А.В.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Заголовок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Дата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5B212-CEE9-45AF-9229-50B0B0CA5264}" type="datetime1">
              <a:rPr lang="ru-RU" smtClean="0"/>
              <a:pPr/>
              <a:t>11.09.2019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Автор: Ботвинков А.В.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BD08-FA33-4342-A539-67B5ED87D737}" type="datetime1">
              <a:rPr lang="ru-RU" smtClean="0"/>
              <a:pPr/>
              <a:t>11.09.2019</a:t>
            </a:fld>
            <a:endParaRPr lang="ru-RU"/>
          </a:p>
        </p:txBody>
      </p:sp>
      <p:sp>
        <p:nvSpPr>
          <p:cNvPr id="24" name="Нижний колонтитул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Автор: Ботвинков А.В.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Заголовок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6" name="Текст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Содержимое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Дата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291B-5F75-4D42-95F1-CCD3C5951EC1}" type="datetime1">
              <a:rPr lang="ru-RU" smtClean="0"/>
              <a:pPr/>
              <a:t>11.09.2019</a:t>
            </a:fld>
            <a:endParaRPr lang="ru-RU"/>
          </a:p>
        </p:txBody>
      </p:sp>
      <p:sp>
        <p:nvSpPr>
          <p:cNvPr id="29" name="Нижний колонтитул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Автор: Ботвинков А.В.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1E68B-94C1-4DDE-B910-D0E46C9A3448}" type="datetime1">
              <a:rPr lang="ru-RU" smtClean="0"/>
              <a:pPr/>
              <a:t>11.09.2019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Автор: Ботвинков А.В.</a:t>
            </a:r>
            <a:endParaRPr lang="ru-RU"/>
          </a:p>
        </p:txBody>
      </p:sp>
      <p:sp>
        <p:nvSpPr>
          <p:cNvPr id="31" name="Номер слайда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6" name="Текст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F9BA5-6D9D-4205-8ED6-791488E677F2}" type="datetime1">
              <a:rPr lang="ru-RU" smtClean="0"/>
              <a:pPr/>
              <a:t>11.09.2019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Автор: Ботвинков А.В.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568F6-FD7A-4A28-8920-3431C160F0B5}" type="datetime1">
              <a:rPr lang="ru-RU" smtClean="0"/>
              <a:pPr/>
              <a:t>11.09.2019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Автор: Ботвинков А.В.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Текст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1" name="Дата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20C07286-8BA0-4A90-892B-67535DD01ACB}" type="datetime1">
              <a:rPr lang="ru-RU" smtClean="0"/>
              <a:pPr/>
              <a:t>11.09.2019</a:t>
            </a:fld>
            <a:endParaRPr lang="ru-RU"/>
          </a:p>
        </p:txBody>
      </p:sp>
      <p:sp>
        <p:nvSpPr>
          <p:cNvPr id="28" name="Нижний колонтитул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r>
              <a:rPr lang="ru-RU" smtClean="0"/>
              <a:t>Автор: Ботвинков А.В.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23528" y="1124744"/>
            <a:ext cx="8458200" cy="1222375"/>
          </a:xfrm>
        </p:spPr>
        <p:txBody>
          <a:bodyPr/>
          <a:lstStyle/>
          <a:p>
            <a:pPr algn="ctr"/>
            <a:r>
              <a:rPr lang="ru-RU" dirty="0" smtClean="0"/>
              <a:t>Интеллектуальные системы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3528" y="2708920"/>
            <a:ext cx="8458200" cy="914400"/>
          </a:xfrm>
        </p:spPr>
        <p:txBody>
          <a:bodyPr/>
          <a:lstStyle/>
          <a:p>
            <a:pPr algn="ctr"/>
            <a:r>
              <a:rPr lang="ru-RU" dirty="0" smtClean="0"/>
              <a:t>Обучение </a:t>
            </a:r>
            <a:r>
              <a:rPr lang="ru-RU" dirty="0" err="1" smtClean="0"/>
              <a:t>нейросети</a:t>
            </a:r>
            <a:endParaRPr lang="ru-RU" dirty="0"/>
          </a:p>
        </p:txBody>
      </p:sp>
      <p:sp>
        <p:nvSpPr>
          <p:cNvPr id="7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Нейрон смещения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1560" y="1268760"/>
            <a:ext cx="79208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Нейрон смещения</a:t>
            </a:r>
            <a:r>
              <a:rPr lang="ru-RU" dirty="0" smtClean="0"/>
              <a:t> - или </a:t>
            </a:r>
            <a:r>
              <a:rPr lang="ru-RU" dirty="0" err="1" smtClean="0"/>
              <a:t>bias</a:t>
            </a:r>
            <a:r>
              <a:rPr lang="ru-RU" dirty="0" smtClean="0"/>
              <a:t> нейрон используется в большинстве </a:t>
            </a:r>
            <a:r>
              <a:rPr lang="ru-RU" dirty="0" err="1" smtClean="0"/>
              <a:t>нейросетей</a:t>
            </a:r>
            <a:r>
              <a:rPr lang="ru-RU" dirty="0" smtClean="0"/>
              <a:t>. Особенность этого типа нейронов заключается в том, что его вход и выход всегда ровняются 1 и они никогда не имеют входных синапсов. Нейроны смещения могут, либо присутствовать в нейронной сети по одному на слое, либо полностью отсутствовать.</a:t>
            </a:r>
            <a:endParaRPr lang="ru-RU" dirty="0"/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242" name="Picture 2" descr="https://habrastorage.org/files/5ea/4f6/321/5ea4f6321364487796e7c541a19f1f6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2924944"/>
            <a:ext cx="4536504" cy="32022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Нейрон смещения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6626" name="Picture 2" descr="https://habrastorage.org/files/183/319/d16/183319d16b00427392697f0ff93a4799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268760"/>
            <a:ext cx="8532635" cy="460851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Методы обучения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11560" y="1340768"/>
            <a:ext cx="784887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/>
            <a:r>
              <a:rPr lang="ru-RU" dirty="0" smtClean="0"/>
              <a:t>1. Метод обратного распространения (</a:t>
            </a:r>
            <a:r>
              <a:rPr lang="en-US" dirty="0" err="1" smtClean="0"/>
              <a:t>Backpropagation</a:t>
            </a:r>
            <a:r>
              <a:rPr lang="en-US" dirty="0" smtClean="0"/>
              <a:t>)</a:t>
            </a:r>
            <a:endParaRPr lang="ru-RU" dirty="0" smtClean="0"/>
          </a:p>
          <a:p>
            <a:pPr marL="342900" indent="-342900">
              <a:buAutoNum type="arabicPeriod"/>
            </a:pPr>
            <a:endParaRPr lang="en-US" dirty="0" smtClean="0"/>
          </a:p>
          <a:p>
            <a:r>
              <a:rPr lang="ru-RU" dirty="0" smtClean="0"/>
              <a:t>2. Метод упругого распространения (</a:t>
            </a:r>
            <a:r>
              <a:rPr lang="en-US" dirty="0" smtClean="0"/>
              <a:t>Resilient propagation </a:t>
            </a:r>
            <a:r>
              <a:rPr lang="ru-RU" dirty="0" smtClean="0"/>
              <a:t>или </a:t>
            </a:r>
            <a:r>
              <a:rPr lang="en-US" dirty="0" err="1" smtClean="0"/>
              <a:t>Rprop</a:t>
            </a:r>
            <a:r>
              <a:rPr lang="en-US" dirty="0" smtClean="0"/>
              <a:t>)</a:t>
            </a:r>
            <a:endParaRPr lang="ru-RU" dirty="0" smtClean="0"/>
          </a:p>
          <a:p>
            <a:endParaRPr lang="en-US" dirty="0" smtClean="0"/>
          </a:p>
          <a:p>
            <a:r>
              <a:rPr lang="ru-RU" dirty="0" smtClean="0"/>
              <a:t>3. Генетический Алгоритм (</a:t>
            </a:r>
            <a:r>
              <a:rPr lang="en-US" dirty="0" smtClean="0"/>
              <a:t>Genetic Algorithm)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Метод градиентного спуска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467544" y="1340768"/>
            <a:ext cx="8136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Метод основан на нахождении локального минимума или максимума функции с помощью движения вдоль градиента. 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539552" y="2276872"/>
            <a:ext cx="82089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Градиент </a:t>
            </a:r>
            <a:r>
              <a:rPr lang="ru-RU" dirty="0" smtClean="0"/>
              <a:t>— это вектор который определяет крутизну склона и указывает его направление относительно какой либо из точек на поверхности или графике. Чтобы найти градиент нужно взять производную от графика по данной точке (как это и показано на графике).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Методы градиентного спуска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7650" name="Picture 2" descr="https://habrastorage.org/files/bb6/5a4/067/bb65a4067d34445e8ccb1bd442426f2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10727"/>
            <a:ext cx="6624736" cy="684727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Методы градиентного спуска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0"/>
            <a:ext cx="708254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Методы градиентного спуска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8914" name="Picture 2" descr="https://habrastorage.org/files/dba/e30/6f4/dbae306f46e8419ba4a843200e223d0e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196752"/>
            <a:ext cx="6408712" cy="480653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Методы градиентного спуска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9552" y="1700808"/>
            <a:ext cx="860444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Необходимо минимизировать функцию </a:t>
            </a:r>
            <a:r>
              <a:rPr lang="ru-RU" dirty="0" smtClean="0"/>
              <a:t>вида</a:t>
            </a:r>
            <a:r>
              <a:rPr lang="en-US" dirty="0" smtClean="0"/>
              <a:t> y(x)=(x-5)</a:t>
            </a:r>
            <a:r>
              <a:rPr lang="en-US" baseline="30000" dirty="0" smtClean="0"/>
              <a:t>2</a:t>
            </a:r>
            <a:r>
              <a:rPr lang="ru-RU" dirty="0" smtClean="0"/>
              <a:t> </a:t>
            </a:r>
            <a:r>
              <a:rPr lang="ru-RU" dirty="0" smtClean="0"/>
              <a:t>. Минимизировать значит найти </a:t>
            </a:r>
            <a:r>
              <a:rPr lang="en-US" dirty="0" smtClean="0"/>
              <a:t>x </a:t>
            </a:r>
            <a:r>
              <a:rPr lang="ru-RU" dirty="0" smtClean="0"/>
              <a:t>при </a:t>
            </a:r>
            <a:r>
              <a:rPr lang="ru-RU" dirty="0" smtClean="0"/>
              <a:t>каком значении функция </a:t>
            </a:r>
            <a:r>
              <a:rPr lang="en-US" dirty="0" smtClean="0"/>
              <a:t>y(x) </a:t>
            </a:r>
            <a:r>
              <a:rPr lang="ru-RU" dirty="0" smtClean="0"/>
              <a:t>принимает </a:t>
            </a:r>
            <a:r>
              <a:rPr lang="ru-RU" dirty="0" smtClean="0"/>
              <a:t>минимальное значение. Определим последовательность действий: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1) Необходима производная </a:t>
            </a:r>
            <a:r>
              <a:rPr lang="ru-RU" dirty="0" smtClean="0"/>
              <a:t>по</a:t>
            </a:r>
            <a:r>
              <a:rPr lang="en-US" dirty="0" smtClean="0"/>
              <a:t> </a:t>
            </a:r>
            <a:r>
              <a:rPr lang="en-US" dirty="0" err="1" smtClean="0"/>
              <a:t>dy</a:t>
            </a:r>
            <a:r>
              <a:rPr lang="en-US" dirty="0" smtClean="0"/>
              <a:t>/</a:t>
            </a:r>
            <a:r>
              <a:rPr lang="en-US" dirty="0" err="1" smtClean="0"/>
              <a:t>dx</a:t>
            </a:r>
            <a:r>
              <a:rPr lang="ru-RU" dirty="0" smtClean="0"/>
              <a:t>: </a:t>
            </a:r>
            <a:r>
              <a:rPr lang="en-US" dirty="0" smtClean="0"/>
              <a:t>2*(x-5)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2) Установим начальное значение </a:t>
            </a:r>
            <a:r>
              <a:rPr lang="en-US" dirty="0" smtClean="0"/>
              <a:t>x</a:t>
            </a:r>
            <a:r>
              <a:rPr lang="ru-RU" dirty="0" smtClean="0"/>
              <a:t>= </a:t>
            </a:r>
            <a:r>
              <a:rPr lang="ru-RU" dirty="0" smtClean="0"/>
              <a:t>0</a:t>
            </a:r>
            <a:br>
              <a:rPr lang="ru-RU" dirty="0" smtClean="0"/>
            </a:br>
            <a:r>
              <a:rPr lang="ru-RU" dirty="0" smtClean="0"/>
              <a:t>3) Установим размер шага — попробуем несколько значений — 0.1, </a:t>
            </a:r>
            <a:r>
              <a:rPr lang="ru-RU" dirty="0" smtClean="0"/>
              <a:t>0.9 </a:t>
            </a:r>
            <a:r>
              <a:rPr lang="ru-RU" dirty="0" smtClean="0"/>
              <a:t>чтобы посмотреть как этот выбор повлияет на сходимость.</a:t>
            </a:r>
            <a:br>
              <a:rPr lang="ru-RU" dirty="0" smtClean="0"/>
            </a:br>
            <a:r>
              <a:rPr lang="ru-RU" dirty="0" smtClean="0"/>
              <a:t>4) </a:t>
            </a:r>
            <a:r>
              <a:rPr lang="en-US" dirty="0" smtClean="0"/>
              <a:t>N</a:t>
            </a:r>
            <a:r>
              <a:rPr lang="ru-RU" dirty="0" smtClean="0"/>
              <a:t> </a:t>
            </a:r>
            <a:r>
              <a:rPr lang="ru-RU" dirty="0" smtClean="0"/>
              <a:t>раз подряд выполним указанную </a:t>
            </a:r>
            <a:r>
              <a:rPr lang="ru-RU" dirty="0" smtClean="0"/>
              <a:t>формулу:</a:t>
            </a:r>
            <a:r>
              <a:rPr lang="en-US" dirty="0" smtClean="0"/>
              <a:t> </a:t>
            </a:r>
          </a:p>
          <a:p>
            <a:r>
              <a:rPr lang="en-US" sz="2400" dirty="0" err="1" smtClean="0">
                <a:latin typeface="Arial"/>
                <a:cs typeface="Arial"/>
              </a:rPr>
              <a:t>x</a:t>
            </a:r>
            <a:r>
              <a:rPr lang="en-US" sz="2400" baseline="-25000" dirty="0" err="1" smtClean="0">
                <a:latin typeface="Arial"/>
                <a:cs typeface="Arial"/>
              </a:rPr>
              <a:t>n</a:t>
            </a:r>
            <a:r>
              <a:rPr lang="en-US" sz="2400" dirty="0" smtClean="0">
                <a:latin typeface="Arial"/>
                <a:cs typeface="Arial"/>
              </a:rPr>
              <a:t> = x</a:t>
            </a:r>
            <a:r>
              <a:rPr lang="en-US" sz="2400" baseline="-25000" dirty="0" smtClean="0">
                <a:latin typeface="Arial"/>
                <a:cs typeface="Arial"/>
              </a:rPr>
              <a:t>n-1</a:t>
            </a:r>
            <a:r>
              <a:rPr lang="en-US" sz="2400" dirty="0" smtClean="0">
                <a:latin typeface="Arial"/>
                <a:cs typeface="Arial"/>
              </a:rPr>
              <a:t> – a * </a:t>
            </a:r>
            <a:r>
              <a:rPr lang="en-US" sz="2400" dirty="0" err="1" smtClean="0">
                <a:latin typeface="Arial"/>
                <a:cs typeface="Arial"/>
              </a:rPr>
              <a:t>dy</a:t>
            </a:r>
            <a:r>
              <a:rPr lang="en-US" sz="2400" dirty="0" smtClean="0">
                <a:latin typeface="Arial"/>
                <a:cs typeface="Arial"/>
              </a:rPr>
              <a:t>/d(</a:t>
            </a:r>
            <a:r>
              <a:rPr lang="en-US" sz="2400" dirty="0" err="1" smtClean="0">
                <a:latin typeface="Arial"/>
                <a:cs typeface="Arial"/>
              </a:rPr>
              <a:t>x</a:t>
            </a:r>
            <a:r>
              <a:rPr lang="en-US" sz="2400" baseline="-25000" dirty="0" err="1" smtClean="0">
                <a:latin typeface="Arial"/>
                <a:cs typeface="Arial"/>
              </a:rPr>
              <a:t>n</a:t>
            </a:r>
            <a:r>
              <a:rPr lang="ru-RU" sz="2400" baseline="-25000" dirty="0" smtClean="0">
                <a:latin typeface="Arial"/>
                <a:cs typeface="Arial"/>
              </a:rPr>
              <a:t>-1</a:t>
            </a:r>
            <a:r>
              <a:rPr lang="en-US" sz="2400" dirty="0" smtClean="0">
                <a:latin typeface="Arial"/>
                <a:cs typeface="Arial"/>
              </a:rPr>
              <a:t>)</a:t>
            </a:r>
            <a:endParaRPr lang="en-US" sz="2400" dirty="0" smtClean="0"/>
          </a:p>
          <a:p>
            <a:r>
              <a:rPr lang="ru-RU" dirty="0" smtClean="0"/>
              <a:t> </a:t>
            </a:r>
            <a:r>
              <a:rPr lang="ru-RU" dirty="0" smtClean="0"/>
              <a:t>Так как неизвестный параметр только один, то и формула только одна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Методы градиентного спуска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23528" y="5733256"/>
            <a:ext cx="60486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При </a:t>
            </a:r>
            <a:r>
              <a:rPr lang="ru-RU" dirty="0" smtClean="0"/>
              <a:t>значении</a:t>
            </a:r>
            <a:r>
              <a:rPr lang="en-US" dirty="0" smtClean="0"/>
              <a:t> </a:t>
            </a:r>
            <a:r>
              <a:rPr lang="ru-RU" dirty="0" smtClean="0"/>
              <a:t>скорости, </a:t>
            </a:r>
            <a:r>
              <a:rPr lang="ru-RU" dirty="0" smtClean="0"/>
              <a:t>равном </a:t>
            </a:r>
            <a:r>
              <a:rPr lang="ru-RU" dirty="0" smtClean="0"/>
              <a:t>0.1 метод </a:t>
            </a:r>
            <a:r>
              <a:rPr lang="ru-RU" dirty="0" smtClean="0"/>
              <a:t>расходится, каждый шаг опускаясь не ниже, а наоборот выше, устремляясь в бесконечность. </a:t>
            </a:r>
            <a:endParaRPr lang="ru-RU" dirty="0"/>
          </a:p>
        </p:txBody>
      </p:sp>
      <p:pic>
        <p:nvPicPr>
          <p:cNvPr id="3584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599" y="1052736"/>
            <a:ext cx="7839549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Методы градиентного спуска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23528" y="5733256"/>
            <a:ext cx="60486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При </a:t>
            </a:r>
            <a:r>
              <a:rPr lang="ru-RU" dirty="0" smtClean="0"/>
              <a:t>значении</a:t>
            </a:r>
            <a:r>
              <a:rPr lang="en-US" dirty="0" smtClean="0"/>
              <a:t> </a:t>
            </a:r>
            <a:r>
              <a:rPr lang="ru-RU" dirty="0" smtClean="0"/>
              <a:t>скорости, </a:t>
            </a:r>
            <a:r>
              <a:rPr lang="ru-RU" dirty="0" smtClean="0"/>
              <a:t>равном </a:t>
            </a:r>
            <a:r>
              <a:rPr lang="ru-RU" dirty="0" smtClean="0"/>
              <a:t>0.9 метод </a:t>
            </a:r>
            <a:r>
              <a:rPr lang="ru-RU" dirty="0" smtClean="0"/>
              <a:t>расходится, каждый шаг опускаясь не ниже, а наоборот выше, устремляясь в бесконечность. </a:t>
            </a:r>
            <a:endParaRPr lang="ru-RU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124744"/>
            <a:ext cx="7315200" cy="463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Метод обратного распространения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611560" y="1582341"/>
            <a:ext cx="79208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Последовательное нахождение выходных значений нейронов называется передача вперед (</a:t>
            </a:r>
            <a:r>
              <a:rPr lang="ru-RU" dirty="0" err="1" smtClean="0"/>
              <a:t>Forward</a:t>
            </a:r>
            <a:r>
              <a:rPr lang="ru-RU" dirty="0" smtClean="0"/>
              <a:t> </a:t>
            </a:r>
            <a:r>
              <a:rPr lang="ru-RU" dirty="0" err="1" smtClean="0"/>
              <a:t>pass</a:t>
            </a:r>
            <a:r>
              <a:rPr lang="ru-RU" dirty="0" smtClean="0"/>
              <a:t>), то есть последовательно передается информацию от входных нейронов к выходным. После чего </a:t>
            </a:r>
            <a:r>
              <a:rPr lang="ru-RU" dirty="0" err="1" smtClean="0"/>
              <a:t>вычесляется</a:t>
            </a:r>
            <a:r>
              <a:rPr lang="ru-RU" dirty="0" smtClean="0"/>
              <a:t> ошибка и основываясь на ней происходит обратная передача(</a:t>
            </a:r>
            <a:r>
              <a:rPr lang="en-US" dirty="0" smtClean="0"/>
              <a:t>Back pass</a:t>
            </a:r>
            <a:r>
              <a:rPr lang="ru-RU" dirty="0" smtClean="0"/>
              <a:t>), которая заключается в том, чтобы последовательно менять веса нейронной сети, начиная с весов выходного нейрона. Значение весов будут меняться в ту сторону, которая даст наименьшую ошибку.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Метод обратного распространения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3794" name="Picture 2" descr="https://habrastorage.org/files/dad/168/f54/dad168f54a2d4cf0b6508200eda50eef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476672"/>
            <a:ext cx="3810000" cy="3810000"/>
          </a:xfrm>
          <a:prstGeom prst="rect">
            <a:avLst/>
          </a:prstGeom>
          <a:noFill/>
        </p:spPr>
      </p:pic>
      <p:sp>
        <p:nvSpPr>
          <p:cNvPr id="7" name="Прямоугольник 6"/>
          <p:cNvSpPr/>
          <p:nvPr/>
        </p:nvSpPr>
        <p:spPr>
          <a:xfrm>
            <a:off x="395536" y="4149080"/>
            <a:ext cx="820891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H1input = 1*0.45+0*-0.12=0.45</a:t>
            </a:r>
            <a:r>
              <a:rPr lang="ru-RU" dirty="0" smtClean="0"/>
              <a:t> </a:t>
            </a:r>
            <a:r>
              <a:rPr lang="en-US" dirty="0" smtClean="0"/>
              <a:t>	 H2input = 1*0.78+0*0.13=0.78 </a:t>
            </a:r>
            <a:br>
              <a:rPr lang="en-US" dirty="0" smtClean="0"/>
            </a:br>
            <a:r>
              <a:rPr lang="en-US" dirty="0" smtClean="0"/>
              <a:t>H1output = sigmoid(0.45)=0.61	 H2output = sigmoid(0.78)=0.69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O1input = 0.61*1.5+0.69*-2.3=-0.672 	 O1ideal = 1 (0xor1=1) </a:t>
            </a:r>
            <a:br>
              <a:rPr lang="en-US" dirty="0" smtClean="0"/>
            </a:br>
            <a:r>
              <a:rPr lang="en-US" dirty="0" smtClean="0"/>
              <a:t>O1output = sigmoid(-0.672)=0.33 		 Error = ((1-0.33)^2)/1=0.45 </a:t>
            </a:r>
          </a:p>
          <a:p>
            <a:endParaRPr lang="en-US" dirty="0" smtClean="0"/>
          </a:p>
          <a:p>
            <a:r>
              <a:rPr lang="ru-RU" dirty="0" smtClean="0"/>
              <a:t>Результат — 0.33, ошибка — 45% </a:t>
            </a:r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Метод обратного распространения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" name="Picture 2" descr="https://habrastorage.org/files/f99/ca2/cd9/f99ca2cd9f6e4a96bee47e2fb9978daa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484785"/>
            <a:ext cx="8352928" cy="2163408"/>
          </a:xfrm>
          <a:prstGeom prst="rect">
            <a:avLst/>
          </a:prstGeom>
          <a:noFill/>
        </p:spPr>
      </p:pic>
      <p:pic>
        <p:nvPicPr>
          <p:cNvPr id="33796" name="Picture 4" descr="https://habrastorage.org/files/6e8/ba4/93b/6e8ba493b23d47dbabd6230bea55923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3645024"/>
            <a:ext cx="8352928" cy="23354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Метод обратного распространения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39552" y="1268760"/>
            <a:ext cx="770485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Исходные данные:</a:t>
            </a:r>
          </a:p>
          <a:p>
            <a:r>
              <a:rPr lang="pt-BR" dirty="0" smtClean="0"/>
              <a:t>O1output = 0.33</a:t>
            </a:r>
            <a:br>
              <a:rPr lang="pt-BR" dirty="0" smtClean="0"/>
            </a:br>
            <a:r>
              <a:rPr lang="pt-BR" dirty="0" smtClean="0"/>
              <a:t>O1ideal = 1</a:t>
            </a:r>
            <a:br>
              <a:rPr lang="pt-BR" dirty="0" smtClean="0"/>
            </a:br>
            <a:r>
              <a:rPr lang="pt-BR" dirty="0" smtClean="0"/>
              <a:t>Error = 0.45</a:t>
            </a:r>
            <a:br>
              <a:rPr lang="pt-BR" dirty="0" smtClean="0"/>
            </a:br>
            <a:endParaRPr lang="ru-RU" dirty="0" smtClean="0"/>
          </a:p>
          <a:p>
            <a:r>
              <a:rPr lang="ru-RU" b="1" dirty="0" smtClean="0"/>
              <a:t>Расчёт дельты </a:t>
            </a:r>
            <a:r>
              <a:rPr lang="pl-PL" dirty="0" smtClean="0"/>
              <a:t> </a:t>
            </a:r>
            <a:r>
              <a:rPr lang="pl-PL" b="1" dirty="0" smtClean="0"/>
              <a:t>δ</a:t>
            </a:r>
            <a:r>
              <a:rPr lang="ru-RU" b="1" dirty="0" smtClean="0"/>
              <a:t>О</a:t>
            </a:r>
            <a:r>
              <a:rPr lang="pl-PL" b="1" dirty="0" smtClean="0"/>
              <a:t>1 </a:t>
            </a:r>
            <a:r>
              <a:rPr lang="ru-RU" b="1" dirty="0" smtClean="0"/>
              <a:t>: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δO1 = (1 — 0.33) * ( (1 — 0.33) * 0.33 ) = 0.148</a:t>
            </a:r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Метод обратного распространения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39552" y="1268760"/>
            <a:ext cx="770485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Исходные данные:</a:t>
            </a:r>
          </a:p>
          <a:p>
            <a:r>
              <a:rPr lang="pl-PL" dirty="0" smtClean="0"/>
              <a:t>H1output = 0.61</a:t>
            </a:r>
            <a:br>
              <a:rPr lang="pl-PL" dirty="0" smtClean="0"/>
            </a:br>
            <a:r>
              <a:rPr lang="pl-PL" dirty="0" smtClean="0"/>
              <a:t>w5 = 1.5</a:t>
            </a:r>
            <a:br>
              <a:rPr lang="pl-PL" dirty="0" smtClean="0"/>
            </a:br>
            <a:r>
              <a:rPr lang="pl-PL" dirty="0" smtClean="0"/>
              <a:t>δO1 = 0.148</a:t>
            </a:r>
            <a:br>
              <a:rPr lang="pl-PL" dirty="0" smtClean="0"/>
            </a:br>
            <a:r>
              <a:rPr lang="pl-PL" dirty="0" smtClean="0"/>
              <a:t/>
            </a:r>
            <a:br>
              <a:rPr lang="pl-PL" dirty="0" smtClean="0"/>
            </a:br>
            <a:endParaRPr lang="ru-RU" dirty="0" smtClean="0"/>
          </a:p>
          <a:p>
            <a:r>
              <a:rPr lang="ru-RU" b="1" dirty="0" smtClean="0"/>
              <a:t>Расчёт дельты </a:t>
            </a:r>
            <a:r>
              <a:rPr lang="pl-PL" dirty="0" smtClean="0"/>
              <a:t> </a:t>
            </a:r>
            <a:r>
              <a:rPr lang="pl-PL" b="1" dirty="0" smtClean="0"/>
              <a:t>δH1 </a:t>
            </a:r>
            <a:r>
              <a:rPr lang="ru-RU" b="1" dirty="0" smtClean="0"/>
              <a:t>: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l-PL" dirty="0" smtClean="0"/>
              <a:t> δH1 = ( (1 — 0.61) * 0.61 ) * ( 1.5 * 0.148 ) = 0.053 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395536" y="4149080"/>
            <a:ext cx="8748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 нахождения обоих дельт </a:t>
            </a:r>
            <a:r>
              <a:rPr lang="ru-RU" dirty="0" err="1" smtClean="0"/>
              <a:t>синапсиса</a:t>
            </a:r>
            <a:r>
              <a:rPr lang="ru-RU" dirty="0" smtClean="0"/>
              <a:t>(связи между нейронами) </a:t>
            </a:r>
            <a:r>
              <a:rPr lang="pl-PL" dirty="0" smtClean="0"/>
              <a:t>δH1</a:t>
            </a:r>
            <a:r>
              <a:rPr lang="ru-RU" dirty="0" smtClean="0"/>
              <a:t> и </a:t>
            </a:r>
            <a:r>
              <a:rPr lang="pl-PL" dirty="0" smtClean="0"/>
              <a:t>δ</a:t>
            </a:r>
            <a:r>
              <a:rPr lang="ru-RU" dirty="0" smtClean="0"/>
              <a:t>О</a:t>
            </a:r>
            <a:r>
              <a:rPr lang="pl-PL" dirty="0" smtClean="0"/>
              <a:t>1</a:t>
            </a:r>
            <a:endParaRPr lang="ru-RU" dirty="0" smtClean="0"/>
          </a:p>
          <a:p>
            <a:r>
              <a:rPr lang="ru-RU" dirty="0" smtClean="0"/>
              <a:t>вычисляется </a:t>
            </a:r>
            <a:r>
              <a:rPr lang="ru-RU" b="1" dirty="0" smtClean="0"/>
              <a:t>градиент  </a:t>
            </a:r>
            <a:r>
              <a:rPr lang="ru-RU" dirty="0" err="1" smtClean="0"/>
              <a:t>синапсиса</a:t>
            </a:r>
            <a:r>
              <a:rPr lang="ru-RU" dirty="0" smtClean="0"/>
              <a:t> по формуле:</a:t>
            </a:r>
          </a:p>
        </p:txBody>
      </p:sp>
      <p:pic>
        <p:nvPicPr>
          <p:cNvPr id="35842" name="Picture 2" descr="https://habrastorage.org/files/143/409/eb0/143409eb03354e29a2f91019bbe23ec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4797152"/>
            <a:ext cx="8772525" cy="13430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Метод обратного распространения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251520" y="1196752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smtClean="0"/>
              <a:t>Исходные данные:</a:t>
            </a:r>
          </a:p>
          <a:p>
            <a:r>
              <a:rPr lang="pt-BR" dirty="0" smtClean="0"/>
              <a:t>H1output = 0.61</a:t>
            </a:r>
            <a:br>
              <a:rPr lang="pt-BR" dirty="0" smtClean="0"/>
            </a:br>
            <a:r>
              <a:rPr lang="pt-BR" dirty="0" smtClean="0"/>
              <a:t>δO1 = 0.148</a:t>
            </a:r>
            <a:br>
              <a:rPr lang="pt-BR" dirty="0" smtClean="0"/>
            </a:br>
            <a:endParaRPr lang="ru-RU" dirty="0" smtClean="0"/>
          </a:p>
          <a:p>
            <a:r>
              <a:rPr lang="ru-RU" b="1" dirty="0" smtClean="0"/>
              <a:t>Расчёт градиента для </a:t>
            </a:r>
            <a:r>
              <a:rPr lang="ru-RU" b="1" dirty="0" err="1" smtClean="0"/>
              <a:t>синапсиса</a:t>
            </a:r>
            <a:r>
              <a:rPr lang="ru-RU" b="1" dirty="0" smtClean="0"/>
              <a:t> </a:t>
            </a:r>
            <a:r>
              <a:rPr lang="en-US" b="1" dirty="0" smtClean="0"/>
              <a:t>w5</a:t>
            </a:r>
            <a:r>
              <a:rPr lang="ru-RU" b="1" dirty="0" smtClean="0"/>
              <a:t>: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GRADw5 = 0.61 * 0.148 = 0.09</a:t>
            </a:r>
            <a:endParaRPr lang="ru-RU" dirty="0"/>
          </a:p>
        </p:txBody>
      </p:sp>
      <p:pic>
        <p:nvPicPr>
          <p:cNvPr id="37892" name="Picture 4" descr="https://habrastorage.org/files/3ea/aee/86b/3eaaee86b0014e5e9ee72b4b9afc350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058" y="3068960"/>
            <a:ext cx="8614422" cy="1539234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395536" y="4797152"/>
            <a:ext cx="7560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Где </a:t>
            </a:r>
            <a:r>
              <a:rPr lang="en-US" dirty="0" err="1" smtClean="0"/>
              <a:t>i</a:t>
            </a:r>
            <a:r>
              <a:rPr lang="en-US" dirty="0" smtClean="0"/>
              <a:t> – </a:t>
            </a:r>
            <a:r>
              <a:rPr lang="ru-RU" dirty="0" smtClean="0"/>
              <a:t>номер текущей итерации</a:t>
            </a:r>
          </a:p>
          <a:p>
            <a:r>
              <a:rPr lang="en-US" dirty="0" smtClean="0"/>
              <a:t>E – </a:t>
            </a:r>
            <a:r>
              <a:rPr lang="ru-RU" dirty="0" smtClean="0"/>
              <a:t>скорость обучения</a:t>
            </a:r>
          </a:p>
          <a:p>
            <a:r>
              <a:rPr lang="ru-RU" dirty="0" smtClean="0"/>
              <a:t>а – момент</a:t>
            </a:r>
          </a:p>
          <a:p>
            <a:r>
              <a:rPr lang="ru-RU" dirty="0" smtClean="0"/>
              <a:t>Δ</a:t>
            </a:r>
            <a:r>
              <a:rPr lang="en-US" dirty="0" smtClean="0"/>
              <a:t>w –</a:t>
            </a:r>
            <a:r>
              <a:rPr lang="ru-RU" dirty="0" smtClean="0"/>
              <a:t> изменение</a:t>
            </a:r>
            <a:r>
              <a:rPr lang="en-US" dirty="0" smtClean="0"/>
              <a:t> </a:t>
            </a:r>
            <a:r>
              <a:rPr lang="ru-RU" dirty="0" smtClean="0"/>
              <a:t>веса </a:t>
            </a:r>
            <a:r>
              <a:rPr lang="ru-RU" dirty="0" err="1" smtClean="0"/>
              <a:t>синапсиса</a:t>
            </a:r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Метод обратного распространения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251520" y="1196752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smtClean="0"/>
              <a:t>Исходные данные:</a:t>
            </a:r>
          </a:p>
          <a:p>
            <a:r>
              <a:rPr lang="pl-PL" dirty="0" smtClean="0"/>
              <a:t>E = 0.7</a:t>
            </a:r>
            <a:br>
              <a:rPr lang="pl-PL" dirty="0" smtClean="0"/>
            </a:br>
            <a:r>
              <a:rPr lang="pl-PL" dirty="0" smtClean="0"/>
              <a:t>Α = 0.3</a:t>
            </a:r>
            <a:br>
              <a:rPr lang="pl-PL" dirty="0" smtClean="0"/>
            </a:br>
            <a:r>
              <a:rPr lang="pl-PL" dirty="0" smtClean="0"/>
              <a:t>w5 = 1.5</a:t>
            </a:r>
            <a:br>
              <a:rPr lang="pl-PL" dirty="0" smtClean="0"/>
            </a:br>
            <a:r>
              <a:rPr lang="pl-PL" dirty="0" smtClean="0"/>
              <a:t>GRADw5 = 0.09</a:t>
            </a:r>
            <a:br>
              <a:rPr lang="pl-PL" dirty="0" smtClean="0"/>
            </a:br>
            <a:r>
              <a:rPr lang="pl-PL" dirty="0" smtClean="0"/>
              <a:t>Δw5(i-1) = 0</a:t>
            </a:r>
            <a:r>
              <a:rPr lang="pt-BR" dirty="0" smtClean="0"/>
              <a:t/>
            </a:r>
            <a:br>
              <a:rPr lang="pt-BR" dirty="0" smtClean="0"/>
            </a:br>
            <a:endParaRPr lang="ru-RU" dirty="0" smtClean="0"/>
          </a:p>
          <a:p>
            <a:r>
              <a:rPr lang="ru-RU" b="1" dirty="0" smtClean="0"/>
              <a:t>Расчёт веса для </a:t>
            </a:r>
            <a:r>
              <a:rPr lang="ru-RU" b="1" dirty="0" err="1" smtClean="0"/>
              <a:t>синапсиса</a:t>
            </a:r>
            <a:r>
              <a:rPr lang="ru-RU" b="1" dirty="0" smtClean="0"/>
              <a:t> </a:t>
            </a:r>
            <a:r>
              <a:rPr lang="en-US" b="1" dirty="0" smtClean="0"/>
              <a:t>w5</a:t>
            </a:r>
            <a:r>
              <a:rPr lang="ru-RU" b="1" dirty="0" smtClean="0"/>
              <a:t>: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l-PL" dirty="0" smtClean="0"/>
              <a:t>Δw5 = 0.7 * 0.09 + 0 * 0.3 = 0.063</a:t>
            </a:r>
            <a:br>
              <a:rPr lang="pl-PL" dirty="0" smtClean="0"/>
            </a:br>
            <a:r>
              <a:rPr lang="pl-PL" dirty="0" smtClean="0"/>
              <a:t>w5 = w5 + Δw5 = 1.563</a:t>
            </a:r>
            <a:endParaRPr lang="ru-R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Метод обратного распространения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251520" y="1196752"/>
            <a:ext cx="547260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Исходные данные:</a:t>
            </a:r>
          </a:p>
          <a:p>
            <a:r>
              <a:rPr lang="pt-BR" dirty="0" smtClean="0"/>
              <a:t>H2output = 0.69</a:t>
            </a:r>
            <a:br>
              <a:rPr lang="pt-BR" dirty="0" smtClean="0"/>
            </a:br>
            <a:r>
              <a:rPr lang="pt-BR" dirty="0" smtClean="0"/>
              <a:t>w6 = -2.3</a:t>
            </a:r>
            <a:br>
              <a:rPr lang="pt-BR" dirty="0" smtClean="0"/>
            </a:br>
            <a:r>
              <a:rPr lang="pt-BR" dirty="0" smtClean="0"/>
              <a:t>δO1 = 0.148</a:t>
            </a:r>
            <a:br>
              <a:rPr lang="pt-BR" dirty="0" smtClean="0"/>
            </a:br>
            <a:r>
              <a:rPr lang="pt-BR" dirty="0" smtClean="0"/>
              <a:t>E = 0.7</a:t>
            </a:r>
            <a:br>
              <a:rPr lang="pt-BR" dirty="0" smtClean="0"/>
            </a:br>
            <a:r>
              <a:rPr lang="pt-BR" dirty="0" smtClean="0"/>
              <a:t>a </a:t>
            </a:r>
            <a:r>
              <a:rPr lang="pt-BR" dirty="0" smtClean="0"/>
              <a:t>= 0.3</a:t>
            </a:r>
            <a:br>
              <a:rPr lang="pt-BR" dirty="0" smtClean="0"/>
            </a:br>
            <a:r>
              <a:rPr lang="pt-BR" dirty="0" smtClean="0"/>
              <a:t>Δw6(i-1) = 0</a:t>
            </a:r>
            <a:br>
              <a:rPr lang="pt-BR" dirty="0" smtClean="0"/>
            </a:br>
            <a:endParaRPr lang="ru-RU" dirty="0" smtClean="0"/>
          </a:p>
          <a:p>
            <a:r>
              <a:rPr lang="ru-RU" b="1" dirty="0" smtClean="0"/>
              <a:t>Расчёт дельты для нейрона </a:t>
            </a:r>
            <a:r>
              <a:rPr lang="en-US" b="1" dirty="0" smtClean="0"/>
              <a:t>H2</a:t>
            </a:r>
            <a:r>
              <a:rPr lang="ru-RU" b="1" dirty="0" smtClean="0"/>
              <a:t>:</a:t>
            </a:r>
          </a:p>
          <a:p>
            <a:r>
              <a:rPr lang="pl-PL" dirty="0" smtClean="0"/>
              <a:t>δH2 = ( (1 — 0.69) * 0.69 ) * ( -2.3 * 0.148 ) = -0.07</a:t>
            </a:r>
            <a:br>
              <a:rPr lang="pl-PL" dirty="0" smtClean="0"/>
            </a:br>
            <a:endParaRPr lang="ru-RU" dirty="0" smtClean="0"/>
          </a:p>
          <a:p>
            <a:endParaRPr lang="ru-RU" dirty="0" smtClean="0"/>
          </a:p>
          <a:p>
            <a:r>
              <a:rPr lang="ru-RU" b="1" dirty="0" smtClean="0"/>
              <a:t>Расчёт градиента для </a:t>
            </a:r>
            <a:r>
              <a:rPr lang="en-US" b="1" dirty="0" smtClean="0"/>
              <a:t>w6:</a:t>
            </a:r>
            <a:endParaRPr lang="ru-RU" b="1" dirty="0" smtClean="0"/>
          </a:p>
          <a:p>
            <a:r>
              <a:rPr lang="pl-PL" dirty="0" smtClean="0"/>
              <a:t>GRADw6 = 0.69 * 0.148 = 0.1</a:t>
            </a:r>
            <a:endParaRPr lang="ru-RU" dirty="0" smtClean="0"/>
          </a:p>
          <a:p>
            <a:r>
              <a:rPr lang="ru-RU" b="1" dirty="0" smtClean="0"/>
              <a:t>Расчёт изменения веса для </a:t>
            </a:r>
            <a:r>
              <a:rPr lang="en-US" b="1" dirty="0" smtClean="0"/>
              <a:t>w6:</a:t>
            </a:r>
            <a:endParaRPr lang="ru-RU" b="1" dirty="0" smtClean="0"/>
          </a:p>
          <a:p>
            <a:r>
              <a:rPr lang="pl-PL" dirty="0" smtClean="0"/>
              <a:t>Δw6 = 0.7 * 0.1 + 0 * 0.3 = 0.07</a:t>
            </a:r>
            <a:endParaRPr lang="ru-RU" dirty="0" smtClean="0"/>
          </a:p>
          <a:p>
            <a:r>
              <a:rPr lang="ru-RU" b="1" dirty="0" smtClean="0"/>
              <a:t>Расчёт нового веса для </a:t>
            </a:r>
            <a:r>
              <a:rPr lang="en-US" b="1" dirty="0" smtClean="0"/>
              <a:t>w6:</a:t>
            </a:r>
            <a:endParaRPr lang="ru-RU" b="1" dirty="0" smtClean="0"/>
          </a:p>
          <a:p>
            <a:r>
              <a:rPr lang="pl-PL" dirty="0" smtClean="0"/>
              <a:t>w6 = w6 + Δw6 = -2.2</a:t>
            </a:r>
            <a:endParaRPr lang="ru-R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Метод обратного распространения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251520" y="1196752"/>
            <a:ext cx="316835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Исходные данные:</a:t>
            </a:r>
          </a:p>
          <a:p>
            <a:r>
              <a:rPr lang="pl-PL" dirty="0" smtClean="0"/>
              <a:t>w1 = 0.45, Δw1(i-1) = 0</a:t>
            </a:r>
            <a:br>
              <a:rPr lang="pl-PL" dirty="0" smtClean="0"/>
            </a:br>
            <a:r>
              <a:rPr lang="pl-PL" dirty="0" smtClean="0"/>
              <a:t>w2 = 0.78, Δw2(i-1) = 0</a:t>
            </a:r>
            <a:br>
              <a:rPr lang="pl-PL" dirty="0" smtClean="0"/>
            </a:br>
            <a:r>
              <a:rPr lang="pl-PL" dirty="0" smtClean="0"/>
              <a:t>w3 = -0.12, Δw3(i-1) = 0</a:t>
            </a:r>
            <a:br>
              <a:rPr lang="pl-PL" dirty="0" smtClean="0"/>
            </a:br>
            <a:r>
              <a:rPr lang="pl-PL" dirty="0" smtClean="0"/>
              <a:t>w4 = 0.13, Δw4(i-1) = 0</a:t>
            </a:r>
            <a:br>
              <a:rPr lang="pl-PL" dirty="0" smtClean="0"/>
            </a:br>
            <a:r>
              <a:rPr lang="pl-PL" dirty="0" smtClean="0"/>
              <a:t>δH1 = 0.053</a:t>
            </a:r>
            <a:br>
              <a:rPr lang="pl-PL" dirty="0" smtClean="0"/>
            </a:br>
            <a:r>
              <a:rPr lang="pl-PL" dirty="0" smtClean="0"/>
              <a:t>δH2 = -0.07</a:t>
            </a:r>
            <a:br>
              <a:rPr lang="pl-PL" dirty="0" smtClean="0"/>
            </a:br>
            <a:r>
              <a:rPr lang="pl-PL" dirty="0" smtClean="0"/>
              <a:t>E = 0.7</a:t>
            </a:r>
            <a:br>
              <a:rPr lang="pl-PL" dirty="0" smtClean="0"/>
            </a:br>
            <a:r>
              <a:rPr lang="pl-PL" dirty="0" smtClean="0"/>
              <a:t>Α = 0.3</a:t>
            </a:r>
            <a:endParaRPr lang="en-US" dirty="0" smtClean="0"/>
          </a:p>
        </p:txBody>
      </p:sp>
      <p:sp>
        <p:nvSpPr>
          <p:cNvPr id="7" name="Прямоугольник 6"/>
          <p:cNvSpPr/>
          <p:nvPr/>
        </p:nvSpPr>
        <p:spPr>
          <a:xfrm>
            <a:off x="3995936" y="126876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smtClean="0"/>
              <a:t>Расчёт градиентов для </a:t>
            </a:r>
            <a:r>
              <a:rPr lang="en-US" b="1" dirty="0" smtClean="0"/>
              <a:t>w</a:t>
            </a:r>
            <a:r>
              <a:rPr lang="ru-RU" b="1" dirty="0" smtClean="0"/>
              <a:t>1,</a:t>
            </a:r>
            <a:r>
              <a:rPr lang="en-US" b="1" dirty="0" smtClean="0"/>
              <a:t>w2,w3,w4:</a:t>
            </a:r>
            <a:endParaRPr lang="ru-RU" b="1" dirty="0" smtClean="0"/>
          </a:p>
          <a:p>
            <a:r>
              <a:rPr lang="en-US" dirty="0" smtClean="0"/>
              <a:t>GRADw1 = 1 * 0.053 = 0.053</a:t>
            </a:r>
            <a:br>
              <a:rPr lang="en-US" dirty="0" smtClean="0"/>
            </a:br>
            <a:r>
              <a:rPr lang="en-US" dirty="0" smtClean="0"/>
              <a:t>GRADw2 = 1 * -0.07 = -0.07</a:t>
            </a:r>
            <a:br>
              <a:rPr lang="en-US" dirty="0" smtClean="0"/>
            </a:br>
            <a:r>
              <a:rPr lang="en-US" dirty="0" smtClean="0"/>
              <a:t>GRADw3 = 0 * 0.053 = 0</a:t>
            </a:r>
            <a:br>
              <a:rPr lang="en-US" dirty="0" smtClean="0"/>
            </a:br>
            <a:r>
              <a:rPr lang="en-US" dirty="0" smtClean="0"/>
              <a:t>GRADw4 = 0 * -0.07 = 0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923928" y="2708920"/>
            <a:ext cx="518457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Расчёт изменения весов для </a:t>
            </a:r>
            <a:r>
              <a:rPr lang="en-US" b="1" dirty="0" smtClean="0"/>
              <a:t>w</a:t>
            </a:r>
            <a:r>
              <a:rPr lang="ru-RU" b="1" dirty="0" smtClean="0"/>
              <a:t>1,</a:t>
            </a:r>
            <a:r>
              <a:rPr lang="en-US" b="1" dirty="0" smtClean="0"/>
              <a:t>w2,w3,w4:</a:t>
            </a:r>
            <a:r>
              <a:rPr lang="ru-RU" b="1" dirty="0" smtClean="0"/>
              <a:t> </a:t>
            </a:r>
            <a:endParaRPr lang="en-US" dirty="0" smtClean="0"/>
          </a:p>
          <a:p>
            <a:r>
              <a:rPr lang="el-GR" dirty="0" smtClean="0"/>
              <a:t>Δ</a:t>
            </a:r>
            <a:r>
              <a:rPr lang="en-US" dirty="0" smtClean="0"/>
              <a:t>w1 = 0.7 * 0.053 + 0 * 0.3 = 0.04</a:t>
            </a:r>
            <a:br>
              <a:rPr lang="en-US" dirty="0" smtClean="0"/>
            </a:br>
            <a:r>
              <a:rPr lang="el-GR" dirty="0" smtClean="0"/>
              <a:t>Δ</a:t>
            </a:r>
            <a:r>
              <a:rPr lang="en-US" dirty="0" smtClean="0"/>
              <a:t>w2 = 0.7 * -0.07 + 0 * 0.3 = -0.05</a:t>
            </a:r>
            <a:br>
              <a:rPr lang="en-US" dirty="0" smtClean="0"/>
            </a:br>
            <a:r>
              <a:rPr lang="el-GR" dirty="0" smtClean="0"/>
              <a:t>Δ</a:t>
            </a:r>
            <a:r>
              <a:rPr lang="en-US" dirty="0" smtClean="0"/>
              <a:t>w3 = 0.7 * 0 + 0 * 0.3 = 0</a:t>
            </a:r>
            <a:br>
              <a:rPr lang="en-US" dirty="0" smtClean="0"/>
            </a:br>
            <a:r>
              <a:rPr lang="el-GR" dirty="0" smtClean="0"/>
              <a:t>Δ</a:t>
            </a:r>
            <a:r>
              <a:rPr lang="en-US" dirty="0" smtClean="0"/>
              <a:t>w4 = 0.7 * 0 + 0 * 0.3 = 0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923928" y="4365104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smtClean="0"/>
              <a:t>Расчёт нового веса для </a:t>
            </a:r>
            <a:r>
              <a:rPr lang="en-US" b="1" dirty="0" smtClean="0"/>
              <a:t>w</a:t>
            </a:r>
            <a:r>
              <a:rPr lang="ru-RU" b="1" dirty="0" smtClean="0"/>
              <a:t>1,</a:t>
            </a:r>
            <a:r>
              <a:rPr lang="en-US" b="1" dirty="0" smtClean="0"/>
              <a:t>w2,w3,w4:</a:t>
            </a:r>
            <a:endParaRPr lang="ru-RU" b="1" dirty="0" smtClean="0"/>
          </a:p>
          <a:p>
            <a:r>
              <a:rPr lang="pl-PL" dirty="0" smtClean="0"/>
              <a:t>w1 = w1 + Δw1 = 0.5</a:t>
            </a:r>
            <a:br>
              <a:rPr lang="pl-PL" dirty="0" smtClean="0"/>
            </a:br>
            <a:r>
              <a:rPr lang="pl-PL" dirty="0" smtClean="0"/>
              <a:t>w2 = w2 + Δw2 = 0.73</a:t>
            </a:r>
            <a:br>
              <a:rPr lang="pl-PL" dirty="0" smtClean="0"/>
            </a:br>
            <a:r>
              <a:rPr lang="pl-PL" dirty="0" smtClean="0"/>
              <a:t>w3 = w3 + Δw3 = -0.12</a:t>
            </a:r>
            <a:br>
              <a:rPr lang="pl-PL" dirty="0" smtClean="0"/>
            </a:br>
            <a:r>
              <a:rPr lang="pl-PL" dirty="0" smtClean="0"/>
              <a:t>w4 = w4 + Δw4 = 0.13</a:t>
            </a:r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Метод обратного распространения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251520" y="1196752"/>
            <a:ext cx="316835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Исходные данные:</a:t>
            </a:r>
          </a:p>
          <a:p>
            <a:r>
              <a:rPr lang="pl-PL" dirty="0" smtClean="0"/>
              <a:t>I1 = 1</a:t>
            </a:r>
            <a:br>
              <a:rPr lang="pl-PL" dirty="0" smtClean="0"/>
            </a:br>
            <a:r>
              <a:rPr lang="pl-PL" dirty="0" smtClean="0"/>
              <a:t>I2 = 0</a:t>
            </a:r>
            <a:br>
              <a:rPr lang="pl-PL" dirty="0" smtClean="0"/>
            </a:br>
            <a:r>
              <a:rPr lang="pl-PL" dirty="0" smtClean="0"/>
              <a:t>w1 = 0.5</a:t>
            </a:r>
            <a:br>
              <a:rPr lang="pl-PL" dirty="0" smtClean="0"/>
            </a:br>
            <a:r>
              <a:rPr lang="pl-PL" dirty="0" smtClean="0"/>
              <a:t>w2 = 0.73</a:t>
            </a:r>
            <a:br>
              <a:rPr lang="pl-PL" dirty="0" smtClean="0"/>
            </a:br>
            <a:r>
              <a:rPr lang="pl-PL" dirty="0" smtClean="0"/>
              <a:t>w3 = -0.12</a:t>
            </a:r>
            <a:br>
              <a:rPr lang="pl-PL" dirty="0" smtClean="0"/>
            </a:br>
            <a:r>
              <a:rPr lang="pl-PL" dirty="0" smtClean="0"/>
              <a:t>w4 = 0.13</a:t>
            </a:r>
            <a:br>
              <a:rPr lang="pl-PL" dirty="0" smtClean="0"/>
            </a:br>
            <a:r>
              <a:rPr lang="pl-PL" dirty="0" smtClean="0"/>
              <a:t>w5 = 1.563</a:t>
            </a:r>
            <a:br>
              <a:rPr lang="pl-PL" dirty="0" smtClean="0"/>
            </a:br>
            <a:r>
              <a:rPr lang="pl-PL" dirty="0" smtClean="0"/>
              <a:t>w6 = -2.2</a:t>
            </a:r>
            <a:endParaRPr lang="en-US" dirty="0" smtClean="0"/>
          </a:p>
        </p:txBody>
      </p:sp>
      <p:sp>
        <p:nvSpPr>
          <p:cNvPr id="7" name="Прямоугольник 6"/>
          <p:cNvSpPr/>
          <p:nvPr/>
        </p:nvSpPr>
        <p:spPr>
          <a:xfrm>
            <a:off x="3995936" y="1268760"/>
            <a:ext cx="475252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Расчёт передачи вперёд</a:t>
            </a:r>
            <a:r>
              <a:rPr lang="en-US" b="1" dirty="0" smtClean="0"/>
              <a:t>(Forward pass):</a:t>
            </a:r>
            <a:endParaRPr lang="ru-RU" b="1" dirty="0" smtClean="0"/>
          </a:p>
          <a:p>
            <a:r>
              <a:rPr lang="en-US" dirty="0" smtClean="0"/>
              <a:t>H1input = 1 * 0.5 + 0 * -0.12 = 0.5</a:t>
            </a:r>
            <a:br>
              <a:rPr lang="en-US" dirty="0" smtClean="0"/>
            </a:br>
            <a:r>
              <a:rPr lang="en-US" dirty="0" smtClean="0"/>
              <a:t>H1output = sigmoid(0.5) = 0.62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H2input = 1 * 0.73 + 0 * 0.124 = 0.73</a:t>
            </a:r>
            <a:br>
              <a:rPr lang="en-US" dirty="0" smtClean="0"/>
            </a:br>
            <a:r>
              <a:rPr lang="en-US" dirty="0" smtClean="0"/>
              <a:t>H2output = sigmoid(0.73) = 0.675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O1input = 0.62* 1.563 + 0.675 * -2.2 = -0.51</a:t>
            </a:r>
            <a:br>
              <a:rPr lang="en-US" dirty="0" smtClean="0"/>
            </a:br>
            <a:r>
              <a:rPr lang="en-US" dirty="0" smtClean="0"/>
              <a:t>O1output = sigmoid(-0.51) = 0.37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O1ideal = 1 (0xor1=1)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Error = ((1-0.37)^2)/1=0.39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Результат — 0.37, ошибка — 39%.</a:t>
            </a:r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рек">
  <a:themeElements>
    <a:clrScheme name="Трек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Трек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Трек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823</TotalTime>
  <Words>604</Words>
  <Application>Microsoft Office PowerPoint</Application>
  <PresentationFormat>Экран (4:3)</PresentationFormat>
  <Paragraphs>102</Paragraphs>
  <Slides>21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2" baseType="lpstr">
      <vt:lpstr>Трек</vt:lpstr>
      <vt:lpstr>Интеллектуальные системы</vt:lpstr>
      <vt:lpstr>Нейрон смещения</vt:lpstr>
      <vt:lpstr>Нейрон смещения</vt:lpstr>
      <vt:lpstr>Методы обучения</vt:lpstr>
      <vt:lpstr>Метод градиентного спуска</vt:lpstr>
      <vt:lpstr>Методы градиентного спуска</vt:lpstr>
      <vt:lpstr>Методы градиентного спуска</vt:lpstr>
      <vt:lpstr>Методы градиентного спуска</vt:lpstr>
      <vt:lpstr>Методы градиентного спуска</vt:lpstr>
      <vt:lpstr>Методы градиентного спуска</vt:lpstr>
      <vt:lpstr>Методы градиентного спуска</vt:lpstr>
      <vt:lpstr>Метод обратного распространения</vt:lpstr>
      <vt:lpstr>Метод обратного распространения</vt:lpstr>
      <vt:lpstr>Метод обратного распространения</vt:lpstr>
      <vt:lpstr>Метод обратного распространения</vt:lpstr>
      <vt:lpstr>Метод обратного распространения</vt:lpstr>
      <vt:lpstr>Метод обратного распространения</vt:lpstr>
      <vt:lpstr>Метод обратного распространения</vt:lpstr>
      <vt:lpstr>Метод обратного распространения</vt:lpstr>
      <vt:lpstr>Метод обратного распространения</vt:lpstr>
      <vt:lpstr>Метод обратного распространения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Антон</dc:creator>
  <cp:lastModifiedBy>Антон</cp:lastModifiedBy>
  <cp:revision>62</cp:revision>
  <dcterms:created xsi:type="dcterms:W3CDTF">2017-09-07T13:45:42Z</dcterms:created>
  <dcterms:modified xsi:type="dcterms:W3CDTF">2019-09-11T17:30:40Z</dcterms:modified>
</cp:coreProperties>
</file>